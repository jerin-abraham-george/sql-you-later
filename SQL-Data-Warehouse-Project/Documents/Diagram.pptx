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D93"/>
    <a:srgbClr val="FBE5D6"/>
    <a:srgbClr val="FFD700"/>
    <a:srgbClr val="D2ECB6"/>
    <a:srgbClr val="EBFFF4"/>
    <a:srgbClr val="FFCDCD"/>
    <a:srgbClr val="ECDFF5"/>
    <a:srgbClr val="C0C0C0"/>
    <a:srgbClr val="F3F3F3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434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A486D-A0F1-970C-3572-2CF289147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A88D6-D594-B991-9C0C-9F368457B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B8A9C-7F49-70CD-DB73-17C72635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FB6D9-9813-BDF9-6DA3-AEC6CF2E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79DF0-0D8C-9605-A5A4-9C1E67E0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32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4358-BCF2-A761-5FB9-77E101C5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B3E63-885F-C103-3659-B6E903157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6F339-244C-A6BC-528A-81EECEBF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F8AA9-98D2-6669-1784-DD0B65AF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20283-1E6B-BA8A-7A3F-99E7DDA0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066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BABE9-8782-66A9-07D3-62C4FD377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D5114-6E83-1B62-58E6-195EEA171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50763-5D51-5BF9-7F62-E63CAB085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96B5-CFD9-0AFF-E49A-0830056B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50639-4CB0-CE4A-B97C-FE4CDD4BD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42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4860-36DE-CE05-B39E-3C3293BFD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E43AE-ECB3-8146-3581-434968DB9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D494A-4FD2-935D-66E9-C1B96A4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2E573-A0A0-482E-6245-34A37EC4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F279C-687A-0D64-8558-CC0067C81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55E9F-3CCA-1CDB-41E7-9A2B1313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49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AAAA-4E13-EB07-44BC-9FB12ECB2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80579-FD0B-E388-66B2-19002732B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058DB-5C41-82AA-0512-CE116CF24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69C8DE-54C2-7B7D-EFFD-3D5354222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AC55F-575A-F2F1-81E1-1F4201AEC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4C1D4C-94C0-BC1E-1E4D-BC45AD9E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759A6E-156A-7097-9D1C-4B323BC4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EB3AFD-D273-8003-85E8-2C751140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411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CA7B6-1C55-FF10-EE0F-0031953AA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A7358-AC0A-16E3-A28C-0BA28C34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B496F0-BFBA-8E30-7ACD-9897A19F6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A4404-72EB-2AA8-6D93-F4E779A8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8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34AC0-7842-9178-C41E-C035B6FA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D9548-063F-7A53-457E-30C2BFCD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4D527-AB6F-6B96-0EDC-0ACF2ABD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66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82BC-1891-8C8D-4E67-EA5B3A80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CA899-EF3A-9F93-AC5C-9CA7D4012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64C17-7366-97C0-591B-33B162F29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B340E-AFC3-03BF-E17E-7031E60A1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A1728-C3C6-F599-5CA2-808CD36D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D4C11-CCF1-E48A-B283-169EBFB1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09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52ED-09A4-556B-C793-208B9322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C9DF94-29AF-5F7C-B5CE-40575EC1B93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CCBB9-CF29-DEED-CCB5-74284A184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0BE13-5464-5383-EF53-8E2116B5B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6A956-C008-C936-88BA-F8B92660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B7CB4-54BB-816C-FD4A-C36440E6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95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D37A-D7E3-884C-496C-2FDD506A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61E2E-1B7A-58CC-4DA9-C0C930D81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83163-8FCE-60B2-F9FB-23CD41F6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2AE5A-6FFA-85D0-0E9A-E159E717C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58BBD-0377-7140-61A1-4ACB2CC5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02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6DD9A-487E-9879-5B7F-A33065616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16581-8EE8-9C8D-5472-32144AF94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AE6BA-DF37-A252-7584-8ABFE2639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81048-DF62-15C4-9809-9821C441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A3CBA-48A0-A291-266A-87B41D92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74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7F9BC-A3B1-41E9-D163-FBBFABDF3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4A828-A3AE-6F66-F0AD-A7FE58094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9FE34-A46E-70D8-1DF7-710CD0AAA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A405C-916B-4512-BD9B-E055DFAB86A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ABBE8-A230-D18B-BD7A-7E5C845F2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745F4-E896-007A-F4DA-F485C9E78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CEBC8-3512-42C7-929B-A9E3210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403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F984-4B0C-93E1-D599-D6ADFA85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2C2051AD-8497-B4CC-4A46-935AC2CD541F}"/>
              </a:ext>
            </a:extLst>
          </p:cNvPr>
          <p:cNvSpPr txBox="1"/>
          <p:nvPr/>
        </p:nvSpPr>
        <p:spPr>
          <a:xfrm>
            <a:off x="287866" y="89468"/>
            <a:ext cx="4842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High Level Architecture</a:t>
            </a:r>
            <a:endParaRPr lang="en-IN" dirty="0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94AFDAF-DCA3-88AB-AA5D-BE08E467DE53}"/>
              </a:ext>
            </a:extLst>
          </p:cNvPr>
          <p:cNvGrpSpPr/>
          <p:nvPr/>
        </p:nvGrpSpPr>
        <p:grpSpPr>
          <a:xfrm>
            <a:off x="516467" y="617081"/>
            <a:ext cx="1862667" cy="5885317"/>
            <a:chOff x="736600" y="617081"/>
            <a:chExt cx="1862667" cy="5885317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3982EA1-0DC5-86F5-1E97-BFB36FCEC344}"/>
                </a:ext>
              </a:extLst>
            </p:cNvPr>
            <p:cNvSpPr/>
            <p:nvPr/>
          </p:nvSpPr>
          <p:spPr>
            <a:xfrm>
              <a:off x="736600" y="847913"/>
              <a:ext cx="1862667" cy="565448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FF1F9A6-BB8A-B0FD-4E99-6531DEACFDF5}"/>
                </a:ext>
              </a:extLst>
            </p:cNvPr>
            <p:cNvSpPr/>
            <p:nvPr/>
          </p:nvSpPr>
          <p:spPr>
            <a:xfrm>
              <a:off x="1003300" y="617081"/>
              <a:ext cx="1329266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Sources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988B5AD-AB75-45AC-E8E6-B346B310BB5D}"/>
                </a:ext>
              </a:extLst>
            </p:cNvPr>
            <p:cNvGrpSpPr/>
            <p:nvPr/>
          </p:nvGrpSpPr>
          <p:grpSpPr>
            <a:xfrm>
              <a:off x="1260102" y="1974127"/>
              <a:ext cx="883055" cy="966389"/>
              <a:chOff x="1260102" y="1974127"/>
              <a:chExt cx="883055" cy="966389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B873455-0354-A2AE-711D-4CADEDE92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08038" y="1974127"/>
                <a:ext cx="674595" cy="674595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AE9073-DCA3-C9A4-F9E5-F79E721708B9}"/>
                  </a:ext>
                </a:extLst>
              </p:cNvPr>
              <p:cNvSpPr txBox="1"/>
              <p:nvPr/>
            </p:nvSpPr>
            <p:spPr>
              <a:xfrm>
                <a:off x="1260102" y="2601962"/>
                <a:ext cx="7704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/>
                  <a:t>CRM</a:t>
                </a:r>
              </a:p>
            </p:txBody>
          </p:sp>
          <p:pic>
            <p:nvPicPr>
              <p:cNvPr id="66" name="Graphic 65" descr="Document with solid fill">
                <a:extLst>
                  <a:ext uri="{FF2B5EF4-FFF2-40B4-BE49-F238E27FC236}">
                    <a16:creationId xmlns:a16="http://schemas.microsoft.com/office/drawing/2014/main" id="{721EFB0A-D772-ACEB-2CA7-C44C7A9E9B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61638" y="2302583"/>
                <a:ext cx="281519" cy="281519"/>
              </a:xfrm>
              <a:prstGeom prst="rect">
                <a:avLst/>
              </a:prstGeom>
            </p:spPr>
          </p:pic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F8EEEF0-5258-AA7D-3C79-E16473847153}"/>
                </a:ext>
              </a:extLst>
            </p:cNvPr>
            <p:cNvGrpSpPr/>
            <p:nvPr/>
          </p:nvGrpSpPr>
          <p:grpSpPr>
            <a:xfrm>
              <a:off x="1260102" y="3431797"/>
              <a:ext cx="890088" cy="971376"/>
              <a:chOff x="1260102" y="4401635"/>
              <a:chExt cx="890088" cy="971376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6FEEDBF-E2CF-C86E-7C08-1176C57F14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08038" y="4401635"/>
                <a:ext cx="674595" cy="674595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5A490F-1CF4-0504-56DE-B821EF502A34}"/>
                  </a:ext>
                </a:extLst>
              </p:cNvPr>
              <p:cNvSpPr txBox="1"/>
              <p:nvPr/>
            </p:nvSpPr>
            <p:spPr>
              <a:xfrm>
                <a:off x="1260102" y="5034457"/>
                <a:ext cx="7704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/>
                  <a:t>ERP</a:t>
                </a:r>
              </a:p>
            </p:txBody>
          </p:sp>
          <p:pic>
            <p:nvPicPr>
              <p:cNvPr id="67" name="Graphic 66" descr="Document with solid fill">
                <a:extLst>
                  <a:ext uri="{FF2B5EF4-FFF2-40B4-BE49-F238E27FC236}">
                    <a16:creationId xmlns:a16="http://schemas.microsoft.com/office/drawing/2014/main" id="{4E700A5A-B6C9-1F15-6221-EDF6742859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68671" y="4730065"/>
                <a:ext cx="281519" cy="281519"/>
              </a:xfrm>
              <a:prstGeom prst="rect">
                <a:avLst/>
              </a:prstGeom>
            </p:spPr>
          </p:pic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B98AD40-F883-A64F-7014-0D1B8927C8FB}"/>
                </a:ext>
              </a:extLst>
            </p:cNvPr>
            <p:cNvCxnSpPr/>
            <p:nvPr/>
          </p:nvCxnSpPr>
          <p:spPr>
            <a:xfrm>
              <a:off x="1003300" y="4969933"/>
              <a:ext cx="1329266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07FBE57-F9F2-9865-625F-387E97C48D9E}"/>
                </a:ext>
              </a:extLst>
            </p:cNvPr>
            <p:cNvSpPr txBox="1"/>
            <p:nvPr/>
          </p:nvSpPr>
          <p:spPr>
            <a:xfrm>
              <a:off x="795868" y="5265583"/>
              <a:ext cx="1701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Object Type: </a:t>
              </a:r>
              <a:r>
                <a:rPr lang="en-IN" sz="1100" dirty="0"/>
                <a:t>CSV Files</a:t>
              </a:r>
            </a:p>
            <a:p>
              <a:r>
                <a:rPr lang="en-IN" sz="1100" b="1" dirty="0"/>
                <a:t>Interface: </a:t>
              </a:r>
              <a:r>
                <a:rPr lang="en-IN" sz="1100" dirty="0"/>
                <a:t>Files in Folder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01BD428-FDD8-C4F5-244D-AB90B0AFA235}"/>
              </a:ext>
            </a:extLst>
          </p:cNvPr>
          <p:cNvGrpSpPr/>
          <p:nvPr/>
        </p:nvGrpSpPr>
        <p:grpSpPr>
          <a:xfrm>
            <a:off x="2934433" y="666866"/>
            <a:ext cx="6333067" cy="5835534"/>
            <a:chOff x="3242733" y="666866"/>
            <a:chExt cx="6333067" cy="583553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68B4CCB-44B8-B95D-4752-41A756556F7E}"/>
                </a:ext>
              </a:extLst>
            </p:cNvPr>
            <p:cNvSpPr/>
            <p:nvPr/>
          </p:nvSpPr>
          <p:spPr>
            <a:xfrm>
              <a:off x="3554632" y="1240500"/>
              <a:ext cx="1584635" cy="35061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D7F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</a:rPr>
                <a:t>Bronze Layer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1B6DCF2-BD59-5906-6AF8-4CA5CF21333D}"/>
                </a:ext>
              </a:extLst>
            </p:cNvPr>
            <p:cNvSpPr/>
            <p:nvPr/>
          </p:nvSpPr>
          <p:spPr>
            <a:xfrm>
              <a:off x="3554632" y="1724003"/>
              <a:ext cx="1584635" cy="4616643"/>
            </a:xfrm>
            <a:prstGeom prst="roundRect">
              <a:avLst>
                <a:gd name="adj" fmla="val 6674"/>
              </a:avLst>
            </a:prstGeom>
            <a:noFill/>
            <a:ln>
              <a:solidFill>
                <a:srgbClr val="CD7F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884C870E-4671-8233-8876-04D0FDA014D0}"/>
                </a:ext>
              </a:extLst>
            </p:cNvPr>
            <p:cNvSpPr/>
            <p:nvPr/>
          </p:nvSpPr>
          <p:spPr>
            <a:xfrm>
              <a:off x="5606399" y="1240500"/>
              <a:ext cx="1584635" cy="350612"/>
            </a:xfrm>
            <a:prstGeom prst="roundRect">
              <a:avLst/>
            </a:prstGeom>
            <a:solidFill>
              <a:srgbClr val="F3F3F3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</a:rPr>
                <a:t>Silver Layer</a:t>
              </a: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C435F8AF-052A-4C73-CD15-018A9D2EC786}"/>
                </a:ext>
              </a:extLst>
            </p:cNvPr>
            <p:cNvSpPr/>
            <p:nvPr/>
          </p:nvSpPr>
          <p:spPr>
            <a:xfrm>
              <a:off x="5606399" y="1724003"/>
              <a:ext cx="1584635" cy="4616643"/>
            </a:xfrm>
            <a:prstGeom prst="roundRect">
              <a:avLst>
                <a:gd name="adj" fmla="val 6674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A61993C-65E5-E6CE-2C37-FF2BA8CCAB02}"/>
                </a:ext>
              </a:extLst>
            </p:cNvPr>
            <p:cNvSpPr/>
            <p:nvPr/>
          </p:nvSpPr>
          <p:spPr>
            <a:xfrm>
              <a:off x="7658166" y="1240500"/>
              <a:ext cx="1584635" cy="350612"/>
            </a:xfrm>
            <a:prstGeom prst="roundRect">
              <a:avLst/>
            </a:prstGeom>
            <a:solidFill>
              <a:srgbClr val="FFED93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</a:rPr>
                <a:t>Gold Layer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C22BF34-74C8-ED2D-6B81-1652034E51B8}"/>
                </a:ext>
              </a:extLst>
            </p:cNvPr>
            <p:cNvSpPr/>
            <p:nvPr/>
          </p:nvSpPr>
          <p:spPr>
            <a:xfrm>
              <a:off x="7658166" y="1724003"/>
              <a:ext cx="1584635" cy="4616643"/>
            </a:xfrm>
            <a:prstGeom prst="roundRect">
              <a:avLst>
                <a:gd name="adj" fmla="val 6674"/>
              </a:avLst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9A81ADCD-9416-EA5C-7BD4-5801ABCBD6C2}"/>
                </a:ext>
              </a:extLst>
            </p:cNvPr>
            <p:cNvSpPr/>
            <p:nvPr/>
          </p:nvSpPr>
          <p:spPr>
            <a:xfrm>
              <a:off x="3242733" y="847914"/>
              <a:ext cx="6333067" cy="5654486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E7EF599D-475F-91B3-5EF1-C90F46040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73435" y="1879302"/>
              <a:ext cx="747027" cy="747027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A4151AF-FCB0-CCAB-137A-6EF183142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24316" y="1879302"/>
              <a:ext cx="748800" cy="74880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1B2462F6-9761-B0DB-CDD0-B3B706A2D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76083" y="1879302"/>
              <a:ext cx="748800" cy="748800"/>
            </a:xfrm>
            <a:prstGeom prst="rect">
              <a:avLst/>
            </a:prstGeom>
          </p:spPr>
        </p:pic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CDBC700-F625-BA23-CBFE-2F08413126F2}"/>
                </a:ext>
              </a:extLst>
            </p:cNvPr>
            <p:cNvCxnSpPr>
              <a:cxnSpLocks/>
            </p:cNvCxnSpPr>
            <p:nvPr/>
          </p:nvCxnSpPr>
          <p:spPr>
            <a:xfrm>
              <a:off x="5908428" y="2782055"/>
              <a:ext cx="995317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2B59D79-D430-F40B-FD23-5F6529F9EC53}"/>
                </a:ext>
              </a:extLst>
            </p:cNvPr>
            <p:cNvCxnSpPr>
              <a:cxnSpLocks/>
            </p:cNvCxnSpPr>
            <p:nvPr/>
          </p:nvCxnSpPr>
          <p:spPr>
            <a:xfrm>
              <a:off x="3853205" y="2782055"/>
              <a:ext cx="995317" cy="0"/>
            </a:xfrm>
            <a:prstGeom prst="line">
              <a:avLst/>
            </a:prstGeom>
            <a:ln w="19050">
              <a:solidFill>
                <a:srgbClr val="FBE5D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0896366-58A2-D45B-6E2C-4F33ED29A44D}"/>
                </a:ext>
              </a:extLst>
            </p:cNvPr>
            <p:cNvCxnSpPr>
              <a:cxnSpLocks/>
            </p:cNvCxnSpPr>
            <p:nvPr/>
          </p:nvCxnSpPr>
          <p:spPr>
            <a:xfrm>
              <a:off x="7989777" y="2782055"/>
              <a:ext cx="995317" cy="0"/>
            </a:xfrm>
            <a:prstGeom prst="line">
              <a:avLst/>
            </a:prstGeom>
            <a:ln w="19050">
              <a:solidFill>
                <a:srgbClr val="FFED93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A9DE5AB-CAA3-3CFE-F36A-FB60045377BA}"/>
                </a:ext>
              </a:extLst>
            </p:cNvPr>
            <p:cNvSpPr txBox="1"/>
            <p:nvPr/>
          </p:nvSpPr>
          <p:spPr>
            <a:xfrm>
              <a:off x="3603967" y="2914947"/>
              <a:ext cx="1462440" cy="235134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1100" b="1" dirty="0"/>
                <a:t>Object Type: </a:t>
              </a:r>
              <a:r>
                <a:rPr lang="en-IN" sz="1100" dirty="0"/>
                <a:t>Table</a:t>
              </a:r>
            </a:p>
            <a:p>
              <a:pPr>
                <a:lnSpc>
                  <a:spcPct val="150000"/>
                </a:lnSpc>
              </a:pPr>
              <a:r>
                <a:rPr lang="en-IN" sz="1100" b="1" dirty="0"/>
                <a:t>Load: 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100" dirty="0"/>
                <a:t>Batch Processing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100" dirty="0"/>
                <a:t>Full Load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100" dirty="0" err="1"/>
                <a:t>Trunc</a:t>
              </a:r>
              <a:r>
                <a:rPr lang="en-IN" sz="1100" dirty="0"/>
                <a:t> &amp; Insert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IN" sz="1100" dirty="0"/>
            </a:p>
            <a:p>
              <a:pPr>
                <a:lnSpc>
                  <a:spcPct val="150000"/>
                </a:lnSpc>
              </a:pPr>
              <a:r>
                <a:rPr lang="en-IN" sz="1100" b="1" dirty="0"/>
                <a:t>No Transformations</a:t>
              </a:r>
            </a:p>
            <a:p>
              <a:pPr>
                <a:lnSpc>
                  <a:spcPct val="150000"/>
                </a:lnSpc>
              </a:pPr>
              <a:r>
                <a:rPr lang="en-IN" sz="1100" b="1" dirty="0"/>
                <a:t>Data Model: 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100" dirty="0"/>
                <a:t>None (as-is)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FEC11C-B0B2-A6F8-7EEF-5F3590654D50}"/>
                </a:ext>
              </a:extLst>
            </p:cNvPr>
            <p:cNvSpPr txBox="1"/>
            <p:nvPr/>
          </p:nvSpPr>
          <p:spPr>
            <a:xfrm>
              <a:off x="5716209" y="2914947"/>
              <a:ext cx="1608958" cy="263149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1100" b="1" dirty="0"/>
                <a:t>Object Type: </a:t>
              </a:r>
              <a:r>
                <a:rPr lang="en-IN" sz="1100" dirty="0"/>
                <a:t>Table</a:t>
              </a:r>
            </a:p>
            <a:p>
              <a:r>
                <a:rPr lang="en-IN" sz="1100" b="1" dirty="0"/>
                <a:t>Load: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100" dirty="0"/>
                <a:t>Batch Processing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100" dirty="0"/>
                <a:t>Full Load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100" dirty="0" err="1"/>
                <a:t>Trunc</a:t>
              </a:r>
              <a:r>
                <a:rPr lang="en-IN" sz="1100" dirty="0"/>
                <a:t> &amp; Insert</a:t>
              </a:r>
            </a:p>
            <a:p>
              <a:endParaRPr lang="en-IN" sz="1100" dirty="0"/>
            </a:p>
            <a:p>
              <a:r>
                <a:rPr lang="en-IN" sz="1100" b="1" dirty="0"/>
                <a:t>Transformations: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100" dirty="0"/>
                <a:t>Data cleansing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100" dirty="0"/>
                <a:t>Data Standardization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100" dirty="0"/>
                <a:t>Data Normalization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100" dirty="0"/>
                <a:t>Derived Columns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100" dirty="0"/>
                <a:t>Data Enrichment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IN" sz="1100" b="1" dirty="0"/>
            </a:p>
            <a:p>
              <a:r>
                <a:rPr lang="en-IN" sz="1100" b="1" dirty="0"/>
                <a:t>Data Model: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100" dirty="0"/>
                <a:t>None (as-is)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5D00429-E1AB-694D-3225-7FF5D16327E6}"/>
                </a:ext>
              </a:extLst>
            </p:cNvPr>
            <p:cNvSpPr txBox="1"/>
            <p:nvPr/>
          </p:nvSpPr>
          <p:spPr>
            <a:xfrm>
              <a:off x="7775840" y="2787989"/>
              <a:ext cx="1462440" cy="26052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1100" b="1" dirty="0"/>
                <a:t>Object Type: </a:t>
              </a:r>
              <a:r>
                <a:rPr lang="en-IN" sz="1100" dirty="0"/>
                <a:t>Views</a:t>
              </a:r>
            </a:p>
            <a:p>
              <a:pPr>
                <a:lnSpc>
                  <a:spcPct val="150000"/>
                </a:lnSpc>
              </a:pPr>
              <a:r>
                <a:rPr lang="en-IN" sz="1100" b="1" dirty="0"/>
                <a:t>No Load 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100" dirty="0"/>
                <a:t>Data Integrations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100" dirty="0"/>
                <a:t>Aggregations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100" dirty="0"/>
                <a:t>Business Logic</a:t>
              </a:r>
            </a:p>
            <a:p>
              <a:pPr>
                <a:lnSpc>
                  <a:spcPct val="150000"/>
                </a:lnSpc>
              </a:pPr>
              <a:endParaRPr lang="en-IN" sz="1100" b="1" dirty="0"/>
            </a:p>
            <a:p>
              <a:pPr>
                <a:lnSpc>
                  <a:spcPct val="150000"/>
                </a:lnSpc>
              </a:pPr>
              <a:r>
                <a:rPr lang="en-IN" sz="1100" b="1" dirty="0"/>
                <a:t>Data Model: 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100" dirty="0"/>
                <a:t>Star Schema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100" dirty="0"/>
                <a:t>Flat Table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100" dirty="0"/>
                <a:t>Aggregated Table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016BD974-4DFE-4D62-E23D-CC1550958F25}"/>
                </a:ext>
              </a:extLst>
            </p:cNvPr>
            <p:cNvSpPr/>
            <p:nvPr/>
          </p:nvSpPr>
          <p:spPr>
            <a:xfrm>
              <a:off x="5462500" y="666866"/>
              <a:ext cx="1862667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Data Warehouse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FEE3E7B-3351-2AE2-107C-FD2AFA807DE7}"/>
              </a:ext>
            </a:extLst>
          </p:cNvPr>
          <p:cNvGrpSpPr/>
          <p:nvPr/>
        </p:nvGrpSpPr>
        <p:grpSpPr>
          <a:xfrm>
            <a:off x="9822799" y="617081"/>
            <a:ext cx="1862667" cy="5885317"/>
            <a:chOff x="10042932" y="617081"/>
            <a:chExt cx="1862667" cy="5885317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F0CF246B-3933-FADA-CD5D-B5A83A3C726F}"/>
                </a:ext>
              </a:extLst>
            </p:cNvPr>
            <p:cNvSpPr/>
            <p:nvPr/>
          </p:nvSpPr>
          <p:spPr>
            <a:xfrm>
              <a:off x="10042932" y="847913"/>
              <a:ext cx="1862667" cy="565448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776D98E-C5F0-B67D-6770-F7FD8C34274A}"/>
                </a:ext>
              </a:extLst>
            </p:cNvPr>
            <p:cNvSpPr/>
            <p:nvPr/>
          </p:nvSpPr>
          <p:spPr>
            <a:xfrm>
              <a:off x="10309632" y="617081"/>
              <a:ext cx="1329266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</a:rPr>
                <a:t>Consume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35EBC5DE-8EA4-E108-CB26-E080EFC2316F}"/>
                </a:ext>
              </a:extLst>
            </p:cNvPr>
            <p:cNvGrpSpPr/>
            <p:nvPr/>
          </p:nvGrpSpPr>
          <p:grpSpPr>
            <a:xfrm>
              <a:off x="10123365" y="1298904"/>
              <a:ext cx="1701800" cy="962925"/>
              <a:chOff x="10123365" y="1298904"/>
              <a:chExt cx="1701800" cy="962925"/>
            </a:xfrm>
          </p:grpSpPr>
          <p:pic>
            <p:nvPicPr>
              <p:cNvPr id="125" name="Picture 124">
                <a:extLst>
                  <a:ext uri="{FF2B5EF4-FFF2-40B4-BE49-F238E27FC236}">
                    <a16:creationId xmlns:a16="http://schemas.microsoft.com/office/drawing/2014/main" id="{6E8301C6-232E-A652-A923-F2F6A58F47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46133" y="1298904"/>
                <a:ext cx="435299" cy="580398"/>
              </a:xfrm>
              <a:prstGeom prst="rect">
                <a:avLst/>
              </a:prstGeom>
            </p:spPr>
          </p:pic>
          <p:pic>
            <p:nvPicPr>
              <p:cNvPr id="127" name="Picture 126">
                <a:extLst>
                  <a:ext uri="{FF2B5EF4-FFF2-40B4-BE49-F238E27FC236}">
                    <a16:creationId xmlns:a16="http://schemas.microsoft.com/office/drawing/2014/main" id="{B1589B74-DA21-2885-44A6-53A4807E2A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02498" y="1394896"/>
                <a:ext cx="536400" cy="525118"/>
              </a:xfrm>
              <a:prstGeom prst="rect">
                <a:avLst/>
              </a:prstGeom>
            </p:spPr>
          </p:pic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13121CE-2798-9D8B-F07F-6DF6876DB5E6}"/>
                  </a:ext>
                </a:extLst>
              </p:cNvPr>
              <p:cNvSpPr txBox="1"/>
              <p:nvPr/>
            </p:nvSpPr>
            <p:spPr>
              <a:xfrm>
                <a:off x="10123365" y="2000219"/>
                <a:ext cx="17018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 dirty="0"/>
                  <a:t>BI &amp; Reporting</a:t>
                </a: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A24A5AE4-F7BD-8B1F-EC5D-2E7B38F0AF39}"/>
                </a:ext>
              </a:extLst>
            </p:cNvPr>
            <p:cNvGrpSpPr/>
            <p:nvPr/>
          </p:nvGrpSpPr>
          <p:grpSpPr>
            <a:xfrm>
              <a:off x="10123365" y="2829720"/>
              <a:ext cx="1701800" cy="992756"/>
              <a:chOff x="10123365" y="2785817"/>
              <a:chExt cx="1701800" cy="992756"/>
            </a:xfrm>
          </p:grpSpPr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9C63B764-8F2A-731A-1FC5-6DE37D289A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64972" y="2785817"/>
                <a:ext cx="618585" cy="618585"/>
              </a:xfrm>
              <a:prstGeom prst="rect">
                <a:avLst/>
              </a:prstGeom>
            </p:spPr>
          </p:pic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3734D79-A957-C5CD-C91D-3E646A70C3BA}"/>
                  </a:ext>
                </a:extLst>
              </p:cNvPr>
              <p:cNvSpPr txBox="1"/>
              <p:nvPr/>
            </p:nvSpPr>
            <p:spPr>
              <a:xfrm>
                <a:off x="10123365" y="3516963"/>
                <a:ext cx="17018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 dirty="0"/>
                  <a:t>Ad-Hoc SQL Queries</a:t>
                </a: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33830570-8E49-64D8-0C71-1BFE96DE5093}"/>
                </a:ext>
              </a:extLst>
            </p:cNvPr>
            <p:cNvGrpSpPr/>
            <p:nvPr/>
          </p:nvGrpSpPr>
          <p:grpSpPr>
            <a:xfrm>
              <a:off x="10123365" y="4390367"/>
              <a:ext cx="1701800" cy="1006021"/>
              <a:chOff x="10123365" y="4390367"/>
              <a:chExt cx="1701800" cy="1006021"/>
            </a:xfrm>
          </p:grpSpPr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3DEA6A04-331C-DC41-CCF9-ED4B232B68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64357" y="4390367"/>
                <a:ext cx="619200" cy="619200"/>
              </a:xfrm>
              <a:prstGeom prst="rect">
                <a:avLst/>
              </a:prstGeom>
            </p:spPr>
          </p:pic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0FAA63B-4BD0-DE18-5B7F-9268CC9559BE}"/>
                  </a:ext>
                </a:extLst>
              </p:cNvPr>
              <p:cNvSpPr txBox="1"/>
              <p:nvPr/>
            </p:nvSpPr>
            <p:spPr>
              <a:xfrm>
                <a:off x="10123365" y="5134778"/>
                <a:ext cx="17018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 dirty="0"/>
                  <a:t>Machine Learning</a:t>
                </a:r>
              </a:p>
            </p:txBody>
          </p:sp>
        </p:grp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96EDCBA-9E5A-8B0B-AFFD-5064E33A036D}"/>
              </a:ext>
            </a:extLst>
          </p:cNvPr>
          <p:cNvSpPr/>
          <p:nvPr/>
        </p:nvSpPr>
        <p:spPr>
          <a:xfrm>
            <a:off x="177800" y="114106"/>
            <a:ext cx="110066" cy="4575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24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1032EF-A1A8-F0E8-576D-624A17009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308787"/>
              </p:ext>
            </p:extLst>
          </p:nvPr>
        </p:nvGraphicFramePr>
        <p:xfrm>
          <a:off x="4517389" y="3967024"/>
          <a:ext cx="1955800" cy="10617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2437978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err="1"/>
                        <a:t>crm_cust_info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1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 dirty="0" err="1"/>
                        <a:t>cst_id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 dirty="0" err="1"/>
                        <a:t>cst_key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0613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62D349C-9387-BEFB-F951-93271F65551E}"/>
              </a:ext>
            </a:extLst>
          </p:cNvPr>
          <p:cNvSpPr txBox="1"/>
          <p:nvPr/>
        </p:nvSpPr>
        <p:spPr>
          <a:xfrm>
            <a:off x="4263389" y="3705414"/>
            <a:ext cx="2463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i="1" dirty="0"/>
              <a:t>Customer Information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D77AF0-89D8-EF98-8035-C0E716B35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758495"/>
              </p:ext>
            </p:extLst>
          </p:nvPr>
        </p:nvGraphicFramePr>
        <p:xfrm>
          <a:off x="4542789" y="2108657"/>
          <a:ext cx="1955800" cy="6908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2437978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err="1"/>
                        <a:t>crm_prd_info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1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 dirty="0" err="1"/>
                        <a:t>prd_key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4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D1EFDC-993B-BBE3-00A6-7E40590D952A}"/>
              </a:ext>
            </a:extLst>
          </p:cNvPr>
          <p:cNvSpPr txBox="1"/>
          <p:nvPr/>
        </p:nvSpPr>
        <p:spPr>
          <a:xfrm>
            <a:off x="4542789" y="1677770"/>
            <a:ext cx="21073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i="1" dirty="0"/>
              <a:t>Current &amp; History Product Information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F02CD4-7329-19F0-7419-5F945041E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126954"/>
              </p:ext>
            </p:extLst>
          </p:nvPr>
        </p:nvGraphicFramePr>
        <p:xfrm>
          <a:off x="1071456" y="2726268"/>
          <a:ext cx="1955800" cy="10617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2437978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err="1"/>
                        <a:t>crm_sales_details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1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 dirty="0" err="1"/>
                        <a:t>prd_key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 dirty="0" err="1"/>
                        <a:t>cst_id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3406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58996A-431B-6ED3-0646-2A9326C5D666}"/>
              </a:ext>
            </a:extLst>
          </p:cNvPr>
          <p:cNvSpPr txBox="1"/>
          <p:nvPr/>
        </p:nvSpPr>
        <p:spPr>
          <a:xfrm>
            <a:off x="1071456" y="2295381"/>
            <a:ext cx="21073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i="1" dirty="0"/>
              <a:t>Transaction Records about Sales &amp; Orders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B29D17B-1568-78E2-1C03-753197A76C82}"/>
              </a:ext>
            </a:extLst>
          </p:cNvPr>
          <p:cNvCxnSpPr>
            <a:cxnSpLocks/>
          </p:cNvCxnSpPr>
          <p:nvPr/>
        </p:nvCxnSpPr>
        <p:spPr>
          <a:xfrm flipV="1">
            <a:off x="3027256" y="2604550"/>
            <a:ext cx="1490133" cy="6635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DA4810C-B535-08C7-DF2E-F3876A9848B8}"/>
              </a:ext>
            </a:extLst>
          </p:cNvPr>
          <p:cNvCxnSpPr>
            <a:cxnSpLocks/>
          </p:cNvCxnSpPr>
          <p:nvPr/>
        </p:nvCxnSpPr>
        <p:spPr>
          <a:xfrm>
            <a:off x="3027256" y="3589867"/>
            <a:ext cx="1515533" cy="9313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8774D5B-4651-B0A5-D251-F39475895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001732"/>
              </p:ext>
            </p:extLst>
          </p:nvPr>
        </p:nvGraphicFramePr>
        <p:xfrm>
          <a:off x="8428989" y="3268133"/>
          <a:ext cx="1955800" cy="6908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2437978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erp_cust_az12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1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 dirty="0" err="1"/>
                        <a:t>cid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45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8ACC00A-043D-9578-F8A6-9D23C378A353}"/>
              </a:ext>
            </a:extLst>
          </p:cNvPr>
          <p:cNvSpPr txBox="1"/>
          <p:nvPr/>
        </p:nvSpPr>
        <p:spPr>
          <a:xfrm>
            <a:off x="8428989" y="2837246"/>
            <a:ext cx="21073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i="1" dirty="0"/>
              <a:t>Extra Customer Information (Birthdate)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1C67D4F-1F4F-5264-FBE9-8862CFBA5045}"/>
              </a:ext>
            </a:extLst>
          </p:cNvPr>
          <p:cNvCxnSpPr>
            <a:cxnSpLocks/>
          </p:cNvCxnSpPr>
          <p:nvPr/>
        </p:nvCxnSpPr>
        <p:spPr>
          <a:xfrm rot="10800000">
            <a:off x="6498589" y="4864891"/>
            <a:ext cx="1930400" cy="579179"/>
          </a:xfrm>
          <a:prstGeom prst="bentConnector3">
            <a:avLst>
              <a:gd name="adj1" fmla="val 5065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7FF8948-CD8B-1776-CBC7-6CF986DA4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912432"/>
              </p:ext>
            </p:extLst>
          </p:nvPr>
        </p:nvGraphicFramePr>
        <p:xfrm>
          <a:off x="8428988" y="4866507"/>
          <a:ext cx="1955800" cy="6908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2437978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erp_loc_a101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1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 dirty="0" err="1"/>
                        <a:t>cid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452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D14771E-099E-1BCD-0646-760122BED479}"/>
              </a:ext>
            </a:extLst>
          </p:cNvPr>
          <p:cNvSpPr txBox="1"/>
          <p:nvPr/>
        </p:nvSpPr>
        <p:spPr>
          <a:xfrm>
            <a:off x="8428989" y="4604897"/>
            <a:ext cx="21073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i="1" dirty="0"/>
              <a:t>Location of Customers (Country)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4077014-42D7-F1D8-0A70-CCC5A75F1B36}"/>
              </a:ext>
            </a:extLst>
          </p:cNvPr>
          <p:cNvCxnSpPr/>
          <p:nvPr/>
        </p:nvCxnSpPr>
        <p:spPr>
          <a:xfrm rot="10800000" flipV="1">
            <a:off x="6473189" y="3833707"/>
            <a:ext cx="1955800" cy="10346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204AF8A-757C-3668-2EB0-71522D86C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520565"/>
              </p:ext>
            </p:extLst>
          </p:nvPr>
        </p:nvGraphicFramePr>
        <p:xfrm>
          <a:off x="8428989" y="1732346"/>
          <a:ext cx="1955800" cy="6908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2437978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erp_px_cat_g1v2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1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500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45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9978A598-2F76-FC72-5D20-5393FF4FF64C}"/>
              </a:ext>
            </a:extLst>
          </p:cNvPr>
          <p:cNvSpPr txBox="1"/>
          <p:nvPr/>
        </p:nvSpPr>
        <p:spPr>
          <a:xfrm>
            <a:off x="8428989" y="1406590"/>
            <a:ext cx="21073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i="1" dirty="0"/>
              <a:t>Product Categories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416C373-49E6-48D5-DE56-0B11A87BFCD6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73191" y="2259682"/>
            <a:ext cx="1955799" cy="344866"/>
          </a:xfrm>
          <a:prstGeom prst="bentConnector3">
            <a:avLst>
              <a:gd name="adj1" fmla="val 494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DE4C4EC-08DF-6BDF-216F-80A986D1A5EA}"/>
              </a:ext>
            </a:extLst>
          </p:cNvPr>
          <p:cNvSpPr txBox="1"/>
          <p:nvPr/>
        </p:nvSpPr>
        <p:spPr>
          <a:xfrm>
            <a:off x="287866" y="89468"/>
            <a:ext cx="4842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Integration Model </a:t>
            </a:r>
            <a:r>
              <a:rPr lang="en-IN" sz="1200" dirty="0"/>
              <a:t>(how tables are related)</a:t>
            </a:r>
            <a:endParaRPr lang="en-IN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E28FCF3-5BB6-0CB0-33D9-9D1A20ED887B}"/>
              </a:ext>
            </a:extLst>
          </p:cNvPr>
          <p:cNvSpPr/>
          <p:nvPr/>
        </p:nvSpPr>
        <p:spPr>
          <a:xfrm>
            <a:off x="817033" y="1049867"/>
            <a:ext cx="6409266" cy="5359400"/>
          </a:xfrm>
          <a:prstGeom prst="roundRect">
            <a:avLst>
              <a:gd name="adj" fmla="val 5609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FB8DE15-F8E0-111E-2AEF-8088B8CF6FA0}"/>
              </a:ext>
            </a:extLst>
          </p:cNvPr>
          <p:cNvSpPr/>
          <p:nvPr/>
        </p:nvSpPr>
        <p:spPr>
          <a:xfrm>
            <a:off x="3429422" y="869889"/>
            <a:ext cx="1667933" cy="430887"/>
          </a:xfrm>
          <a:prstGeom prst="roundRect">
            <a:avLst/>
          </a:prstGeom>
          <a:solidFill>
            <a:srgbClr val="5B9BD5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CRM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F12B611-FAD8-39BA-0FDA-285913CCAF28}"/>
              </a:ext>
            </a:extLst>
          </p:cNvPr>
          <p:cNvSpPr/>
          <p:nvPr/>
        </p:nvSpPr>
        <p:spPr>
          <a:xfrm>
            <a:off x="7760121" y="1049867"/>
            <a:ext cx="3429001" cy="5359400"/>
          </a:xfrm>
          <a:prstGeom prst="roundRect">
            <a:avLst>
              <a:gd name="adj" fmla="val 5609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DBFAFD6-808D-4C7D-7713-E4A1B5EBDFE3}"/>
              </a:ext>
            </a:extLst>
          </p:cNvPr>
          <p:cNvSpPr/>
          <p:nvPr/>
        </p:nvSpPr>
        <p:spPr>
          <a:xfrm>
            <a:off x="8648699" y="869889"/>
            <a:ext cx="1667933" cy="430887"/>
          </a:xfrm>
          <a:prstGeom prst="round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ERP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206840-7E99-6510-A4E3-757AE8134156}"/>
              </a:ext>
            </a:extLst>
          </p:cNvPr>
          <p:cNvSpPr/>
          <p:nvPr/>
        </p:nvSpPr>
        <p:spPr>
          <a:xfrm>
            <a:off x="1071456" y="3787988"/>
            <a:ext cx="1955800" cy="259079"/>
          </a:xfrm>
          <a:prstGeom prst="rect">
            <a:avLst/>
          </a:prstGeom>
          <a:solidFill>
            <a:srgbClr val="ECDFF5"/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SALES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E564F1-B62D-FAB8-1438-E508862C683B}"/>
              </a:ext>
            </a:extLst>
          </p:cNvPr>
          <p:cNvSpPr/>
          <p:nvPr/>
        </p:nvSpPr>
        <p:spPr>
          <a:xfrm>
            <a:off x="4542789" y="2793611"/>
            <a:ext cx="1955800" cy="259079"/>
          </a:xfrm>
          <a:prstGeom prst="rect">
            <a:avLst/>
          </a:prstGeom>
          <a:solidFill>
            <a:srgbClr val="FFCDCD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PRODUCT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B0821-6640-DDC8-6A3D-50B4FE9CD82A}"/>
              </a:ext>
            </a:extLst>
          </p:cNvPr>
          <p:cNvSpPr/>
          <p:nvPr/>
        </p:nvSpPr>
        <p:spPr>
          <a:xfrm>
            <a:off x="8428988" y="2421979"/>
            <a:ext cx="1955800" cy="259079"/>
          </a:xfrm>
          <a:prstGeom prst="rect">
            <a:avLst/>
          </a:prstGeom>
          <a:solidFill>
            <a:srgbClr val="FFCDCD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PRODUCT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01D19B-A6B4-5476-ACA7-2D81E1CA6678}"/>
              </a:ext>
            </a:extLst>
          </p:cNvPr>
          <p:cNvSpPr/>
          <p:nvPr/>
        </p:nvSpPr>
        <p:spPr>
          <a:xfrm>
            <a:off x="4517389" y="5020329"/>
            <a:ext cx="1955800" cy="259079"/>
          </a:xfrm>
          <a:prstGeom prst="rect">
            <a:avLst/>
          </a:prstGeom>
          <a:solidFill>
            <a:srgbClr val="D2ECB6"/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17A160-CDBA-677C-2439-221A2861C73B}"/>
              </a:ext>
            </a:extLst>
          </p:cNvPr>
          <p:cNvSpPr/>
          <p:nvPr/>
        </p:nvSpPr>
        <p:spPr>
          <a:xfrm>
            <a:off x="8422892" y="3953832"/>
            <a:ext cx="1955800" cy="259079"/>
          </a:xfrm>
          <a:prstGeom prst="rect">
            <a:avLst/>
          </a:prstGeom>
          <a:solidFill>
            <a:srgbClr val="D2ECB6"/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56CDAD-2ACF-674D-7649-E77244094441}"/>
              </a:ext>
            </a:extLst>
          </p:cNvPr>
          <p:cNvSpPr/>
          <p:nvPr/>
        </p:nvSpPr>
        <p:spPr>
          <a:xfrm>
            <a:off x="8422891" y="5547726"/>
            <a:ext cx="1955800" cy="259079"/>
          </a:xfrm>
          <a:prstGeom prst="rect">
            <a:avLst/>
          </a:prstGeom>
          <a:solidFill>
            <a:srgbClr val="D2ECB6"/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ED17C4-C2C3-4E64-4646-76A3B8905418}"/>
              </a:ext>
            </a:extLst>
          </p:cNvPr>
          <p:cNvSpPr/>
          <p:nvPr/>
        </p:nvSpPr>
        <p:spPr>
          <a:xfrm>
            <a:off x="177800" y="114106"/>
            <a:ext cx="110066" cy="4575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61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C568D-9C87-7C9C-04CD-E2F1B85F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45274267-23D1-CDEE-DACE-9D7B3347077D}"/>
              </a:ext>
            </a:extLst>
          </p:cNvPr>
          <p:cNvSpPr txBox="1"/>
          <p:nvPr/>
        </p:nvSpPr>
        <p:spPr>
          <a:xfrm>
            <a:off x="287866" y="89468"/>
            <a:ext cx="4842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 Flow Diagram</a:t>
            </a:r>
            <a:endParaRPr lang="en-IN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D70DA18-4F68-1757-3C43-29C129CB7B92}"/>
              </a:ext>
            </a:extLst>
          </p:cNvPr>
          <p:cNvSpPr/>
          <p:nvPr/>
        </p:nvSpPr>
        <p:spPr>
          <a:xfrm>
            <a:off x="736600" y="847914"/>
            <a:ext cx="2228294" cy="535940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47A3DB-AC27-3BC8-CA7D-A35F68ECF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449" y="2349444"/>
            <a:ext cx="674595" cy="6745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72FF274-EEF1-9191-51DD-8C1A885A9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449" y="4776952"/>
            <a:ext cx="674595" cy="67459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CA557A8-EA0B-0397-6F5B-81092E723A53}"/>
              </a:ext>
            </a:extLst>
          </p:cNvPr>
          <p:cNvSpPr/>
          <p:nvPr/>
        </p:nvSpPr>
        <p:spPr>
          <a:xfrm>
            <a:off x="1186114" y="617081"/>
            <a:ext cx="1329266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Sources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CEE17B-3EC7-7C67-D334-E77927F2AD89}"/>
              </a:ext>
            </a:extLst>
          </p:cNvPr>
          <p:cNvSpPr txBox="1"/>
          <p:nvPr/>
        </p:nvSpPr>
        <p:spPr>
          <a:xfrm>
            <a:off x="1465513" y="2977279"/>
            <a:ext cx="770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CRM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7C4078-0B26-629D-8126-624890647084}"/>
              </a:ext>
            </a:extLst>
          </p:cNvPr>
          <p:cNvSpPr txBox="1"/>
          <p:nvPr/>
        </p:nvSpPr>
        <p:spPr>
          <a:xfrm>
            <a:off x="1465513" y="5409774"/>
            <a:ext cx="770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ERP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6D1659E-75A8-C369-25E1-9E5AB8ECE288}"/>
              </a:ext>
            </a:extLst>
          </p:cNvPr>
          <p:cNvSpPr/>
          <p:nvPr/>
        </p:nvSpPr>
        <p:spPr>
          <a:xfrm>
            <a:off x="4409765" y="800592"/>
            <a:ext cx="2033368" cy="5406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D7F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Bronze Layer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939995A-5D1E-0091-0EDA-E0328F3FF59E}"/>
              </a:ext>
            </a:extLst>
          </p:cNvPr>
          <p:cNvSpPr/>
          <p:nvPr/>
        </p:nvSpPr>
        <p:spPr>
          <a:xfrm>
            <a:off x="4409765" y="1590670"/>
            <a:ext cx="2033368" cy="4616643"/>
          </a:xfrm>
          <a:prstGeom prst="roundRect">
            <a:avLst>
              <a:gd name="adj" fmla="val 6674"/>
            </a:avLst>
          </a:prstGeom>
          <a:noFill/>
          <a:ln>
            <a:solidFill>
              <a:srgbClr val="CD7F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FF0495E-FD1D-EB85-D857-2DFF523C648F}"/>
              </a:ext>
            </a:extLst>
          </p:cNvPr>
          <p:cNvSpPr/>
          <p:nvPr/>
        </p:nvSpPr>
        <p:spPr>
          <a:xfrm>
            <a:off x="4605930" y="1945896"/>
            <a:ext cx="1641037" cy="3667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D7F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tx1"/>
                </a:solidFill>
              </a:rPr>
              <a:t>crm_sales_details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DFC585B-8790-8F92-9904-8B52305AA7BB}"/>
              </a:ext>
            </a:extLst>
          </p:cNvPr>
          <p:cNvSpPr/>
          <p:nvPr/>
        </p:nvSpPr>
        <p:spPr>
          <a:xfrm>
            <a:off x="4605930" y="2504076"/>
            <a:ext cx="1641037" cy="3667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D7F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tx1"/>
                </a:solidFill>
              </a:rPr>
              <a:t>crm_cust_info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309171B-F619-5FE6-F436-044C6AEACE03}"/>
              </a:ext>
            </a:extLst>
          </p:cNvPr>
          <p:cNvSpPr/>
          <p:nvPr/>
        </p:nvSpPr>
        <p:spPr>
          <a:xfrm>
            <a:off x="4605930" y="3062256"/>
            <a:ext cx="1641037" cy="3667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D7F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tx1"/>
                </a:solidFill>
              </a:rPr>
              <a:t>crm_prd_info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720EA1D-A86F-4CD3-D442-94FF5C740F42}"/>
              </a:ext>
            </a:extLst>
          </p:cNvPr>
          <p:cNvSpPr/>
          <p:nvPr/>
        </p:nvSpPr>
        <p:spPr>
          <a:xfrm>
            <a:off x="4605930" y="4453376"/>
            <a:ext cx="1641037" cy="3667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D7F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erp_cust_az12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C8C13CB-6DCE-90CE-7369-0E06D2B54D87}"/>
              </a:ext>
            </a:extLst>
          </p:cNvPr>
          <p:cNvSpPr/>
          <p:nvPr/>
        </p:nvSpPr>
        <p:spPr>
          <a:xfrm>
            <a:off x="4605930" y="4944599"/>
            <a:ext cx="1641037" cy="3667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D7F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erp_loc_a101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8EE6901-5DC0-124E-E0A4-492CD0AAC61D}"/>
              </a:ext>
            </a:extLst>
          </p:cNvPr>
          <p:cNvSpPr/>
          <p:nvPr/>
        </p:nvSpPr>
        <p:spPr>
          <a:xfrm>
            <a:off x="4605930" y="5448400"/>
            <a:ext cx="1641037" cy="3667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D7F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erp_px_cat_g1v2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1338956-66F0-1B8A-8F58-FD92AFB097F8}"/>
              </a:ext>
            </a:extLst>
          </p:cNvPr>
          <p:cNvCxnSpPr>
            <a:stCxn id="21" idx="3"/>
            <a:endCxn id="33" idx="1"/>
          </p:cNvCxnSpPr>
          <p:nvPr/>
        </p:nvCxnSpPr>
        <p:spPr>
          <a:xfrm flipV="1">
            <a:off x="2188044" y="2129268"/>
            <a:ext cx="2417886" cy="5574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6B97F401-9E6B-188A-6A16-89E8CFD284BA}"/>
              </a:ext>
            </a:extLst>
          </p:cNvPr>
          <p:cNvCxnSpPr>
            <a:stCxn id="21" idx="3"/>
            <a:endCxn id="35" idx="1"/>
          </p:cNvCxnSpPr>
          <p:nvPr/>
        </p:nvCxnSpPr>
        <p:spPr>
          <a:xfrm>
            <a:off x="2188044" y="2686742"/>
            <a:ext cx="2417886" cy="7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C25C7DE-F94C-0F8E-1C45-037B6A2B636F}"/>
              </a:ext>
            </a:extLst>
          </p:cNvPr>
          <p:cNvCxnSpPr>
            <a:stCxn id="21" idx="3"/>
            <a:endCxn id="36" idx="1"/>
          </p:cNvCxnSpPr>
          <p:nvPr/>
        </p:nvCxnSpPr>
        <p:spPr>
          <a:xfrm>
            <a:off x="2188044" y="2686742"/>
            <a:ext cx="2417886" cy="5588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25CC84A-522E-EF36-B654-E2416170780E}"/>
              </a:ext>
            </a:extLst>
          </p:cNvPr>
          <p:cNvCxnSpPr>
            <a:stCxn id="24" idx="3"/>
            <a:endCxn id="39" idx="1"/>
          </p:cNvCxnSpPr>
          <p:nvPr/>
        </p:nvCxnSpPr>
        <p:spPr>
          <a:xfrm flipV="1">
            <a:off x="2188044" y="4636748"/>
            <a:ext cx="2417886" cy="4775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B7C86C46-744B-0B83-6EB6-376119E56E0D}"/>
              </a:ext>
            </a:extLst>
          </p:cNvPr>
          <p:cNvCxnSpPr>
            <a:stCxn id="24" idx="3"/>
            <a:endCxn id="41" idx="1"/>
          </p:cNvCxnSpPr>
          <p:nvPr/>
        </p:nvCxnSpPr>
        <p:spPr>
          <a:xfrm>
            <a:off x="2188044" y="5114250"/>
            <a:ext cx="2417886" cy="137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C63F0684-4320-09ED-4418-DF846DC3433E}"/>
              </a:ext>
            </a:extLst>
          </p:cNvPr>
          <p:cNvCxnSpPr>
            <a:stCxn id="24" idx="3"/>
            <a:endCxn id="47" idx="1"/>
          </p:cNvCxnSpPr>
          <p:nvPr/>
        </p:nvCxnSpPr>
        <p:spPr>
          <a:xfrm>
            <a:off x="2188044" y="5114250"/>
            <a:ext cx="2417886" cy="5175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86141B73-9CD7-B3CF-4A5A-A0B238C3F041}"/>
              </a:ext>
            </a:extLst>
          </p:cNvPr>
          <p:cNvSpPr/>
          <p:nvPr/>
        </p:nvSpPr>
        <p:spPr>
          <a:xfrm>
            <a:off x="6797365" y="800592"/>
            <a:ext cx="2033368" cy="540620"/>
          </a:xfrm>
          <a:prstGeom prst="roundRect">
            <a:avLst/>
          </a:prstGeom>
          <a:solidFill>
            <a:srgbClr val="F3F3F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Silver Layer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7CBC7E4C-53D0-D6E5-FCA1-D1D8A1ACF40C}"/>
              </a:ext>
            </a:extLst>
          </p:cNvPr>
          <p:cNvSpPr/>
          <p:nvPr/>
        </p:nvSpPr>
        <p:spPr>
          <a:xfrm>
            <a:off x="6797365" y="1590670"/>
            <a:ext cx="2033368" cy="4616643"/>
          </a:xfrm>
          <a:prstGeom prst="roundRect">
            <a:avLst>
              <a:gd name="adj" fmla="val 667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5B8FC76-87BE-56CB-80CD-4ABDC49A5284}"/>
              </a:ext>
            </a:extLst>
          </p:cNvPr>
          <p:cNvSpPr/>
          <p:nvPr/>
        </p:nvSpPr>
        <p:spPr>
          <a:xfrm>
            <a:off x="6993530" y="1945896"/>
            <a:ext cx="1641037" cy="366744"/>
          </a:xfrm>
          <a:prstGeom prst="roundRect">
            <a:avLst/>
          </a:prstGeom>
          <a:solidFill>
            <a:srgbClr val="F3F3F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tx1"/>
                </a:solidFill>
              </a:rPr>
              <a:t>crm_sales_details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1A7785D-F0B5-1C6B-389F-7F8E415CDD5D}"/>
              </a:ext>
            </a:extLst>
          </p:cNvPr>
          <p:cNvSpPr/>
          <p:nvPr/>
        </p:nvSpPr>
        <p:spPr>
          <a:xfrm>
            <a:off x="6993530" y="2504076"/>
            <a:ext cx="1641037" cy="366744"/>
          </a:xfrm>
          <a:prstGeom prst="roundRect">
            <a:avLst/>
          </a:prstGeom>
          <a:solidFill>
            <a:srgbClr val="F3F3F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tx1"/>
                </a:solidFill>
              </a:rPr>
              <a:t>crm_cust_info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C4742241-C95A-6B75-9869-82F7358479D3}"/>
              </a:ext>
            </a:extLst>
          </p:cNvPr>
          <p:cNvSpPr/>
          <p:nvPr/>
        </p:nvSpPr>
        <p:spPr>
          <a:xfrm>
            <a:off x="6993530" y="3062256"/>
            <a:ext cx="1641037" cy="366744"/>
          </a:xfrm>
          <a:prstGeom prst="roundRect">
            <a:avLst/>
          </a:prstGeom>
          <a:solidFill>
            <a:srgbClr val="F3F3F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tx1"/>
                </a:solidFill>
              </a:rPr>
              <a:t>crm_prd_info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09B0853-EF64-491E-FB45-F8BA4FCBEFBE}"/>
              </a:ext>
            </a:extLst>
          </p:cNvPr>
          <p:cNvSpPr/>
          <p:nvPr/>
        </p:nvSpPr>
        <p:spPr>
          <a:xfrm>
            <a:off x="6993530" y="4453376"/>
            <a:ext cx="1641037" cy="366744"/>
          </a:xfrm>
          <a:prstGeom prst="roundRect">
            <a:avLst/>
          </a:prstGeom>
          <a:solidFill>
            <a:srgbClr val="F3F3F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erp_cust_az12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27FACE85-2E73-882A-3852-535356A9603F}"/>
              </a:ext>
            </a:extLst>
          </p:cNvPr>
          <p:cNvSpPr/>
          <p:nvPr/>
        </p:nvSpPr>
        <p:spPr>
          <a:xfrm>
            <a:off x="6993530" y="4944599"/>
            <a:ext cx="1641037" cy="366744"/>
          </a:xfrm>
          <a:prstGeom prst="roundRect">
            <a:avLst/>
          </a:prstGeom>
          <a:solidFill>
            <a:srgbClr val="F3F3F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erp_loc_a101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C6FA56D0-562F-CF2E-59CA-E000CAC07A5C}"/>
              </a:ext>
            </a:extLst>
          </p:cNvPr>
          <p:cNvSpPr/>
          <p:nvPr/>
        </p:nvSpPr>
        <p:spPr>
          <a:xfrm>
            <a:off x="6993530" y="5448400"/>
            <a:ext cx="1641037" cy="366744"/>
          </a:xfrm>
          <a:prstGeom prst="roundRect">
            <a:avLst/>
          </a:prstGeom>
          <a:solidFill>
            <a:srgbClr val="F3F3F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erp_px_cat_g1v2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00B0A7E-1519-D674-BE1C-941E36D8835D}"/>
              </a:ext>
            </a:extLst>
          </p:cNvPr>
          <p:cNvCxnSpPr>
            <a:stCxn id="33" idx="3"/>
            <a:endCxn id="81" idx="1"/>
          </p:cNvCxnSpPr>
          <p:nvPr/>
        </p:nvCxnSpPr>
        <p:spPr>
          <a:xfrm>
            <a:off x="6246967" y="2129268"/>
            <a:ext cx="746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406444-D756-637C-B50D-404D9D1B0CAC}"/>
              </a:ext>
            </a:extLst>
          </p:cNvPr>
          <p:cNvCxnSpPr>
            <a:stCxn id="35" idx="3"/>
            <a:endCxn id="82" idx="1"/>
          </p:cNvCxnSpPr>
          <p:nvPr/>
        </p:nvCxnSpPr>
        <p:spPr>
          <a:xfrm>
            <a:off x="6246967" y="2687448"/>
            <a:ext cx="746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3EA1191-EC3B-C120-9F01-3FC9E8164948}"/>
              </a:ext>
            </a:extLst>
          </p:cNvPr>
          <p:cNvCxnSpPr>
            <a:stCxn id="36" idx="3"/>
            <a:endCxn id="83" idx="1"/>
          </p:cNvCxnSpPr>
          <p:nvPr/>
        </p:nvCxnSpPr>
        <p:spPr>
          <a:xfrm>
            <a:off x="6246967" y="3245628"/>
            <a:ext cx="746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05A4FD8-2476-C0DC-8AF8-22106E88056A}"/>
              </a:ext>
            </a:extLst>
          </p:cNvPr>
          <p:cNvCxnSpPr>
            <a:stCxn id="39" idx="3"/>
            <a:endCxn id="84" idx="1"/>
          </p:cNvCxnSpPr>
          <p:nvPr/>
        </p:nvCxnSpPr>
        <p:spPr>
          <a:xfrm>
            <a:off x="6246967" y="4636748"/>
            <a:ext cx="746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5E8B92F-5620-4290-F29C-2C11755AE342}"/>
              </a:ext>
            </a:extLst>
          </p:cNvPr>
          <p:cNvCxnSpPr>
            <a:stCxn id="41" idx="3"/>
            <a:endCxn id="85" idx="1"/>
          </p:cNvCxnSpPr>
          <p:nvPr/>
        </p:nvCxnSpPr>
        <p:spPr>
          <a:xfrm>
            <a:off x="6246967" y="5127971"/>
            <a:ext cx="746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F52F565-0D3C-8C40-EBB4-43A7934D8700}"/>
              </a:ext>
            </a:extLst>
          </p:cNvPr>
          <p:cNvCxnSpPr>
            <a:stCxn id="47" idx="3"/>
            <a:endCxn id="86" idx="1"/>
          </p:cNvCxnSpPr>
          <p:nvPr/>
        </p:nvCxnSpPr>
        <p:spPr>
          <a:xfrm>
            <a:off x="6246967" y="5631772"/>
            <a:ext cx="746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9E118A-6808-6FEF-FD43-32EF6F6D6724}"/>
              </a:ext>
            </a:extLst>
          </p:cNvPr>
          <p:cNvSpPr/>
          <p:nvPr/>
        </p:nvSpPr>
        <p:spPr>
          <a:xfrm>
            <a:off x="9184965" y="800592"/>
            <a:ext cx="2033368" cy="540620"/>
          </a:xfrm>
          <a:prstGeom prst="roundRect">
            <a:avLst/>
          </a:prstGeom>
          <a:solidFill>
            <a:srgbClr val="FFED93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Gold Layer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656033-15FF-6799-42AF-898BFE463983}"/>
              </a:ext>
            </a:extLst>
          </p:cNvPr>
          <p:cNvSpPr/>
          <p:nvPr/>
        </p:nvSpPr>
        <p:spPr>
          <a:xfrm>
            <a:off x="9184965" y="1590670"/>
            <a:ext cx="2033368" cy="4616643"/>
          </a:xfrm>
          <a:prstGeom prst="roundRect">
            <a:avLst>
              <a:gd name="adj" fmla="val 6674"/>
            </a:avLst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CD1E12-94AF-1E3F-4D93-34B5FD36F196}"/>
              </a:ext>
            </a:extLst>
          </p:cNvPr>
          <p:cNvSpPr/>
          <p:nvPr/>
        </p:nvSpPr>
        <p:spPr>
          <a:xfrm>
            <a:off x="9381130" y="1951262"/>
            <a:ext cx="1641037" cy="366744"/>
          </a:xfrm>
          <a:prstGeom prst="roundRect">
            <a:avLst/>
          </a:prstGeom>
          <a:solidFill>
            <a:srgbClr val="FFED93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tx1"/>
                </a:solidFill>
              </a:rPr>
              <a:t>fact_sales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C74F34-A84D-FF56-9B5A-A0FFF212ECE1}"/>
              </a:ext>
            </a:extLst>
          </p:cNvPr>
          <p:cNvSpPr/>
          <p:nvPr/>
        </p:nvSpPr>
        <p:spPr>
          <a:xfrm>
            <a:off x="9381130" y="3478765"/>
            <a:ext cx="1641037" cy="366744"/>
          </a:xfrm>
          <a:prstGeom prst="roundRect">
            <a:avLst/>
          </a:prstGeom>
          <a:solidFill>
            <a:srgbClr val="FFED93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tx1"/>
                </a:solidFill>
              </a:rPr>
              <a:t>dim_customers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B00AD1-06D6-C62C-269B-D30F3FBFC2B2}"/>
              </a:ext>
            </a:extLst>
          </p:cNvPr>
          <p:cNvSpPr/>
          <p:nvPr/>
        </p:nvSpPr>
        <p:spPr>
          <a:xfrm>
            <a:off x="9381130" y="5006267"/>
            <a:ext cx="1641037" cy="366744"/>
          </a:xfrm>
          <a:prstGeom prst="roundRect">
            <a:avLst/>
          </a:prstGeom>
          <a:solidFill>
            <a:srgbClr val="FFED93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tx1"/>
                </a:solidFill>
              </a:rPr>
              <a:t>dim_products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95E09D-99E4-0924-6A25-D0C818F48BB6}"/>
              </a:ext>
            </a:extLst>
          </p:cNvPr>
          <p:cNvCxnSpPr>
            <a:stCxn id="81" idx="3"/>
            <a:endCxn id="10" idx="1"/>
          </p:cNvCxnSpPr>
          <p:nvPr/>
        </p:nvCxnSpPr>
        <p:spPr>
          <a:xfrm>
            <a:off x="8634567" y="2129268"/>
            <a:ext cx="746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FDB754D-04B0-75D5-7E24-0D5EDE26176E}"/>
              </a:ext>
            </a:extLst>
          </p:cNvPr>
          <p:cNvCxnSpPr>
            <a:stCxn id="82" idx="3"/>
            <a:endCxn id="11" idx="1"/>
          </p:cNvCxnSpPr>
          <p:nvPr/>
        </p:nvCxnSpPr>
        <p:spPr>
          <a:xfrm>
            <a:off x="8634567" y="2687448"/>
            <a:ext cx="746563" cy="97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EEC4AD4-DC10-C1A3-A501-B25C2B772E7A}"/>
              </a:ext>
            </a:extLst>
          </p:cNvPr>
          <p:cNvCxnSpPr>
            <a:stCxn id="83" idx="3"/>
            <a:endCxn id="12" idx="1"/>
          </p:cNvCxnSpPr>
          <p:nvPr/>
        </p:nvCxnSpPr>
        <p:spPr>
          <a:xfrm>
            <a:off x="8634567" y="3245628"/>
            <a:ext cx="746563" cy="1944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8ACAC3-CC24-2F71-292F-FC7BFF789BBD}"/>
              </a:ext>
            </a:extLst>
          </p:cNvPr>
          <p:cNvCxnSpPr>
            <a:stCxn id="84" idx="3"/>
            <a:endCxn id="11" idx="1"/>
          </p:cNvCxnSpPr>
          <p:nvPr/>
        </p:nvCxnSpPr>
        <p:spPr>
          <a:xfrm flipV="1">
            <a:off x="8634567" y="3662137"/>
            <a:ext cx="746563" cy="974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E0E0B22-94EB-4A5C-D8F6-1CE2EC2463B1}"/>
              </a:ext>
            </a:extLst>
          </p:cNvPr>
          <p:cNvCxnSpPr>
            <a:stCxn id="85" idx="3"/>
            <a:endCxn id="11" idx="1"/>
          </p:cNvCxnSpPr>
          <p:nvPr/>
        </p:nvCxnSpPr>
        <p:spPr>
          <a:xfrm flipV="1">
            <a:off x="8634567" y="3662137"/>
            <a:ext cx="746563" cy="1465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0A82378-DD8E-23D1-2D65-8E2B34DF7942}"/>
              </a:ext>
            </a:extLst>
          </p:cNvPr>
          <p:cNvCxnSpPr>
            <a:stCxn id="86" idx="3"/>
            <a:endCxn id="12" idx="1"/>
          </p:cNvCxnSpPr>
          <p:nvPr/>
        </p:nvCxnSpPr>
        <p:spPr>
          <a:xfrm flipV="1">
            <a:off x="8634567" y="5189639"/>
            <a:ext cx="746563" cy="442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4E70B0E-E7D8-BF63-2619-A2C6D5FCDFD4}"/>
              </a:ext>
            </a:extLst>
          </p:cNvPr>
          <p:cNvSpPr/>
          <p:nvPr/>
        </p:nvSpPr>
        <p:spPr>
          <a:xfrm>
            <a:off x="177800" y="114106"/>
            <a:ext cx="110066" cy="4575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59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49EDE-217B-A9BF-4A46-9BF78E70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5561F-5D26-E70C-D6E3-66984F46ACD6}"/>
              </a:ext>
            </a:extLst>
          </p:cNvPr>
          <p:cNvSpPr txBox="1"/>
          <p:nvPr/>
        </p:nvSpPr>
        <p:spPr>
          <a:xfrm>
            <a:off x="287866" y="89468"/>
            <a:ext cx="4842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 Mart </a:t>
            </a:r>
            <a:r>
              <a:rPr lang="en-IN" sz="1200" dirty="0"/>
              <a:t>(Star Schema)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E9EBD1-ACD9-F41B-3C2D-E1425A3BF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847328"/>
              </p:ext>
            </p:extLst>
          </p:nvPr>
        </p:nvGraphicFramePr>
        <p:xfrm>
          <a:off x="639656" y="1471506"/>
          <a:ext cx="2255943" cy="36423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31758">
                  <a:extLst>
                    <a:ext uri="{9D8B030D-6E8A-4147-A177-3AD203B41FA5}">
                      <a16:colId xmlns:a16="http://schemas.microsoft.com/office/drawing/2014/main" val="2243797829"/>
                    </a:ext>
                  </a:extLst>
                </a:gridCol>
                <a:gridCol w="1724185">
                  <a:extLst>
                    <a:ext uri="{9D8B030D-6E8A-4147-A177-3AD203B41FA5}">
                      <a16:colId xmlns:a16="http://schemas.microsoft.com/office/drawing/2014/main" val="164104219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 dirty="0" err="1">
                          <a:solidFill>
                            <a:schemeClr val="tx1"/>
                          </a:solidFill>
                        </a:rPr>
                        <a:t>gold.dim_customers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1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PK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customer_key</a:t>
                      </a:r>
                      <a:endParaRPr lang="en-IN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7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customer_id</a:t>
                      </a:r>
                      <a:endParaRPr lang="en-IN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96340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customer_number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03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first_name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809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last_name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364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4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marital_status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057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370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birthdate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5987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5D6D01-38C6-782B-C6FF-468754BF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764832"/>
              </p:ext>
            </p:extLst>
          </p:nvPr>
        </p:nvGraphicFramePr>
        <p:xfrm>
          <a:off x="4813723" y="1100666"/>
          <a:ext cx="2255943" cy="36423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31758">
                  <a:extLst>
                    <a:ext uri="{9D8B030D-6E8A-4147-A177-3AD203B41FA5}">
                      <a16:colId xmlns:a16="http://schemas.microsoft.com/office/drawing/2014/main" val="2243797829"/>
                    </a:ext>
                  </a:extLst>
                </a:gridCol>
                <a:gridCol w="1724185">
                  <a:extLst>
                    <a:ext uri="{9D8B030D-6E8A-4147-A177-3AD203B41FA5}">
                      <a16:colId xmlns:a16="http://schemas.microsoft.com/office/drawing/2014/main" val="164104219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dirty="0" err="1"/>
                        <a:t>gold.fact_sales</a:t>
                      </a:r>
                      <a:endParaRPr lang="en-IN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1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order_number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FK1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product_key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340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FK2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customer_key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03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order_date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809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shipping_date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364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due_date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4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sales_amount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057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370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5987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6F92D6-C3FB-AE80-B103-8B9BE39A1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540966"/>
              </p:ext>
            </p:extLst>
          </p:nvPr>
        </p:nvGraphicFramePr>
        <p:xfrm>
          <a:off x="9174056" y="1471506"/>
          <a:ext cx="2255943" cy="4384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31758">
                  <a:extLst>
                    <a:ext uri="{9D8B030D-6E8A-4147-A177-3AD203B41FA5}">
                      <a16:colId xmlns:a16="http://schemas.microsoft.com/office/drawing/2014/main" val="2243797829"/>
                    </a:ext>
                  </a:extLst>
                </a:gridCol>
                <a:gridCol w="1724185">
                  <a:extLst>
                    <a:ext uri="{9D8B030D-6E8A-4147-A177-3AD203B41FA5}">
                      <a16:colId xmlns:a16="http://schemas.microsoft.com/office/drawing/2014/main" val="164104219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 dirty="0" err="1">
                          <a:solidFill>
                            <a:schemeClr val="tx1"/>
                          </a:solidFill>
                        </a:rPr>
                        <a:t>gold.dim_products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1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dirty="0"/>
                        <a:t>PK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product_key</a:t>
                      </a:r>
                      <a:endParaRPr lang="en-IN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7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14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product_id</a:t>
                      </a:r>
                      <a:endParaRPr lang="en-IN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96340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product_number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03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product_name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809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category_id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364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4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subcategory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057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370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598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product_line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27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start_date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40935"/>
                  </a:ext>
                </a:extLst>
              </a:tr>
            </a:tbl>
          </a:graphicData>
        </a:graphic>
      </p:graphicFrame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8806344-145C-548C-A185-D3C567A97727}"/>
              </a:ext>
            </a:extLst>
          </p:cNvPr>
          <p:cNvCxnSpPr/>
          <p:nvPr/>
        </p:nvCxnSpPr>
        <p:spPr>
          <a:xfrm>
            <a:off x="2895599" y="1913466"/>
            <a:ext cx="1918124" cy="40640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0B60CE1-CAD9-A62E-FB67-01DA996F5828}"/>
              </a:ext>
            </a:extLst>
          </p:cNvPr>
          <p:cNvCxnSpPr/>
          <p:nvPr/>
        </p:nvCxnSpPr>
        <p:spPr>
          <a:xfrm>
            <a:off x="7069666" y="1913466"/>
            <a:ext cx="2104390" cy="9313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495BA1-D8AB-F412-534F-75D4490DE08B}"/>
              </a:ext>
            </a:extLst>
          </p:cNvPr>
          <p:cNvSpPr txBox="1"/>
          <p:nvPr/>
        </p:nvSpPr>
        <p:spPr>
          <a:xfrm>
            <a:off x="4593590" y="2116666"/>
            <a:ext cx="220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650AD2-EEE4-04D5-B1E4-7851DA7CB4C5}"/>
              </a:ext>
            </a:extLst>
          </p:cNvPr>
          <p:cNvSpPr txBox="1"/>
          <p:nvPr/>
        </p:nvSpPr>
        <p:spPr>
          <a:xfrm>
            <a:off x="7069666" y="1683033"/>
            <a:ext cx="220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5930FB-01B4-7F38-E3BD-13D18BF759ED}"/>
              </a:ext>
            </a:extLst>
          </p:cNvPr>
          <p:cNvSpPr txBox="1"/>
          <p:nvPr/>
        </p:nvSpPr>
        <p:spPr>
          <a:xfrm>
            <a:off x="2866708" y="1636467"/>
            <a:ext cx="302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II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8874D-283D-F157-1810-81DB466F111E}"/>
              </a:ext>
            </a:extLst>
          </p:cNvPr>
          <p:cNvSpPr txBox="1"/>
          <p:nvPr/>
        </p:nvSpPr>
        <p:spPr>
          <a:xfrm>
            <a:off x="8871584" y="1724166"/>
            <a:ext cx="302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II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340EE3-E7E7-8783-69AC-64CA88BBD948}"/>
              </a:ext>
            </a:extLst>
          </p:cNvPr>
          <p:cNvSpPr/>
          <p:nvPr/>
        </p:nvSpPr>
        <p:spPr>
          <a:xfrm>
            <a:off x="177800" y="114106"/>
            <a:ext cx="110066" cy="4575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824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383</Words>
  <Application>Microsoft Office PowerPoint</Application>
  <PresentationFormat>Widescreen</PresentationFormat>
  <Paragraphs>140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17</cp:revision>
  <dcterms:created xsi:type="dcterms:W3CDTF">2026-10-23T12:42:49Z</dcterms:created>
  <dcterms:modified xsi:type="dcterms:W3CDTF">2026-10-25T08:08:53Z</dcterms:modified>
</cp:coreProperties>
</file>